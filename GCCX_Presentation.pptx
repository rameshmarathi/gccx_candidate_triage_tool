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4C3A"/>
                </a:solidFill>
              </a:defRPr>
            </a:pPr>
            <a:r>
              <a:t>GCCX CANDIDATE TRIAGE TOOL</a:t>
            </a:r>
          </a:p>
          <a:p>
            <a:pPr>
              <a:spcBef>
                <a:spcPts val="1400"/>
              </a:spcBef>
              <a:defRPr sz="2200">
                <a:solidFill>
                  <a:srgbClr val="059669"/>
                </a:solidFill>
              </a:defRPr>
            </a:pPr>
            <a:r>
              <a:t>AI Full-Stack Engineer Intern — Round 1 Technical Presentation</a:t>
            </a:r>
          </a:p>
          <a:p>
            <a:pPr>
              <a:spcBef>
                <a:spcPts val="2400"/>
              </a:spcBef>
              <a:defRPr sz="1600">
                <a:solidFill>
                  <a:srgbClr val="64748B"/>
                </a:solidFill>
              </a:defRPr>
            </a:pPr>
            <a:r>
              <a:t>A high-velocity recruiter workspace built with Flask, SQLite, Vanilla JS/CSS, and real OpenAI API integration.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GCCX ROUND 1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3A"/>
                </a:solidFill>
              </a:defRPr>
            </a:pPr>
            <a:r>
              <a:t>The Brief as Understood &amp; Core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500">
                <a:solidFill>
                  <a:srgbClr val="1E293B"/>
                </a:solidFill>
              </a:defRPr>
            </a:pPr>
            <a:r>
              <a:t>• The Recruiter's Problem: </a:t>
            </a:r>
            <a:r>
              <a:rPr b="0">
                <a:solidFill>
                  <a:srgbClr val="64748B"/>
                </a:solidFill>
              </a:rPr>
              <a:t>Recruiters triage hundreds of applicants across messy spreadsheets and subjective notes. The goal is faster triage with better, evidence-grounded judgment.</a:t>
            </a:r>
          </a:p>
          <a:p>
            <a:pPr>
              <a:spcAft>
                <a:spcPts val="1000"/>
              </a:spcAft>
              <a:defRPr b="1" sz="1500">
                <a:solidFill>
                  <a:srgbClr val="1E293B"/>
                </a:solidFill>
              </a:defRPr>
            </a:pPr>
            <a:r>
              <a:t>• Single-Recruiter Scope: </a:t>
            </a:r>
            <a:r>
              <a:rPr b="0">
                <a:solidFill>
                  <a:srgbClr val="64748B"/>
                </a:solidFill>
              </a:rPr>
              <a:t>Authentication (JWT/OAuth) scoped out of Phase 1 to focus 100% of the time budget on core triage velocity, search, and AI integration.</a:t>
            </a:r>
          </a:p>
          <a:p>
            <a:pPr>
              <a:spcAft>
                <a:spcPts val="1000"/>
              </a:spcAft>
              <a:defRPr b="1" sz="1500">
                <a:solidFill>
                  <a:srgbClr val="1E293B"/>
                </a:solidFill>
              </a:defRPr>
            </a:pPr>
            <a:r>
              <a:t>• Dataset as Ground Truth: </a:t>
            </a:r>
            <a:r>
              <a:rPr b="0">
                <a:solidFill>
                  <a:srgbClr val="64748B"/>
                </a:solidFill>
              </a:rPr>
              <a:t>Treated the 48 mock candidates in candidates.json as realistic, imperfect production data without artificial pre-cleaning.</a:t>
            </a:r>
          </a:p>
          <a:p>
            <a:pPr>
              <a:spcAft>
                <a:spcPts val="1000"/>
              </a:spcAft>
              <a:defRPr b="1" sz="1500">
                <a:solidFill>
                  <a:srgbClr val="1E293B"/>
                </a:solidFill>
              </a:defRPr>
            </a:pPr>
            <a:r>
              <a:t>• Idempotent Persistence: </a:t>
            </a:r>
            <a:r>
              <a:rPr b="0">
                <a:solidFill>
                  <a:srgbClr val="64748B"/>
                </a:solidFill>
              </a:rPr>
              <a:t>Used SQLite with INSERT OR IGNORE so server reboots never wipe shortlists, custom tags, or AI summaries.</a:t>
            </a:r>
          </a:p>
          <a:p>
            <a:pPr>
              <a:spcAft>
                <a:spcPts val="1000"/>
              </a:spcAft>
              <a:defRPr b="1" sz="1500">
                <a:solidFill>
                  <a:srgbClr val="1E293B"/>
                </a:solidFill>
              </a:defRPr>
            </a:pPr>
            <a:r>
              <a:t>• Zero Fake AI Policy: </a:t>
            </a:r>
            <a:r>
              <a:rPr b="0">
                <a:solidFill>
                  <a:srgbClr val="64748B"/>
                </a:solidFill>
              </a:rPr>
              <a:t>No simulated or hardcoded responses. If OPENAI_API_KEY is missing, return an honest HTTP 503 with setup instructions.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GCCX ROUND 1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3A"/>
                </a:solidFill>
              </a:defRPr>
            </a:pPr>
            <a:r>
              <a:t>System Architecture &amp; Core Recruiter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500">
                <a:solidFill>
                  <a:srgbClr val="1E293B"/>
                </a:solidFill>
              </a:defRPr>
            </a:pPr>
            <a:r>
              <a:t>• Backend REST API: </a:t>
            </a:r>
            <a:r>
              <a:rPr b="0">
                <a:solidFill>
                  <a:srgbClr val="64748B"/>
                </a:solidFill>
              </a:rPr>
              <a:t>Python Flask serving /api/candidates with multi-field search (name, role, notes, skills) and composite filters.</a:t>
            </a:r>
          </a:p>
          <a:p>
            <a:pPr>
              <a:spcAft>
                <a:spcPts val="800"/>
              </a:spcAft>
              <a:defRPr b="1" sz="1500">
                <a:solidFill>
                  <a:srgbClr val="1E293B"/>
                </a:solidFill>
              </a:defRPr>
            </a:pPr>
            <a:r>
              <a:t>• Database &amp; Indexing: </a:t>
            </a:r>
            <a:r>
              <a:rPr b="0">
                <a:solidFill>
                  <a:srgbClr val="64748B"/>
                </a:solidFill>
              </a:rPr>
              <a:t>SQLite with indexes on target_role, years_experience, source, applied_date, and shortlisted status.</a:t>
            </a:r>
          </a:p>
          <a:p>
            <a:pPr>
              <a:spcAft>
                <a:spcPts val="800"/>
              </a:spcAft>
              <a:defRPr b="1" sz="1500">
                <a:solidFill>
                  <a:srgbClr val="1E293B"/>
                </a:solidFill>
              </a:defRPr>
            </a:pPr>
            <a:r>
              <a:t>• Polished Recruiter UI: </a:t>
            </a:r>
            <a:r>
              <a:rPr b="0">
                <a:solidFill>
                  <a:srgbClr val="64748B"/>
                </a:solidFill>
              </a:rPr>
              <a:t>Lightweight, responsive Vanilla HTML5/CSS3/JS with zero framework bloat. Fast 180ms debounced search.</a:t>
            </a:r>
          </a:p>
          <a:p>
            <a:pPr>
              <a:spcAft>
                <a:spcPts val="800"/>
              </a:spcAft>
              <a:defRPr b="1" sz="1500">
                <a:solidFill>
                  <a:srgbClr val="1E293B"/>
                </a:solidFill>
              </a:defRPr>
            </a:pPr>
            <a:r>
              <a:t>• Interactive Candidate Cards: </a:t>
            </a:r>
            <a:r>
              <a:rPr b="0">
                <a:solidFill>
                  <a:srgbClr val="64748B"/>
                </a:solidFill>
              </a:rPr>
              <a:t>Clickable skill tags, persistent custom tag editor with one-click remove, and instant shortlist star toggle.</a:t>
            </a:r>
          </a:p>
          <a:p>
            <a:pPr>
              <a:spcAft>
                <a:spcPts val="800"/>
              </a:spcAft>
              <a:defRPr b="1" sz="1500">
                <a:solidFill>
                  <a:srgbClr val="1E293B"/>
                </a:solidFill>
              </a:defRPr>
            </a:pPr>
            <a:r>
              <a:t>• Side-by-Side Comparison: </a:t>
            </a:r>
            <a:r>
              <a:rPr b="0">
                <a:solidFill>
                  <a:srgbClr val="64748B"/>
                </a:solidFill>
              </a:rPr>
              <a:t>Recruiters can select 2-3 candidates to view a dedicated side-by-side comparison matrix of skills and experience.</a:t>
            </a:r>
          </a:p>
          <a:p>
            <a:pPr>
              <a:spcAft>
                <a:spcPts val="800"/>
              </a:spcAft>
              <a:defRPr b="1" sz="1500">
                <a:solidFill>
                  <a:srgbClr val="1E293B"/>
                </a:solidFill>
              </a:defRPr>
            </a:pPr>
            <a:r>
              <a:t>• Candidate Detail Drawer: </a:t>
            </a:r>
            <a:r>
              <a:rPr b="0">
                <a:solidFill>
                  <a:srgbClr val="64748B"/>
                </a:solidFill>
              </a:rPr>
              <a:t>Full expanded profile modal with complete notes history, tag suggestions, and AI summary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GCCX ROUND 1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3A"/>
                </a:solidFill>
              </a:defRPr>
            </a:pPr>
            <a:r>
              <a:t>Key Technical Decisions That Mattered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600">
                <a:solidFill>
                  <a:srgbClr val="0F4C3A"/>
                </a:solidFill>
              </a:defRPr>
            </a:pPr>
            <a:r>
              <a:t>• Decision 1: Idempotent Database Seeding: </a:t>
            </a:r>
            <a:r>
              <a:rPr b="0">
                <a:solidFill>
                  <a:srgbClr val="1E293B"/>
                </a:solidFill>
              </a:rPr>
              <a:t>Switched from a naive count check to INSERT OR IGNORE, guaranteeing that recruiter edits are permanent across app restarts.</a:t>
            </a:r>
          </a:p>
          <a:p>
            <a:pPr>
              <a:spcAft>
                <a:spcPts val="1400"/>
              </a:spcAft>
              <a:defRPr b="1" sz="1600">
                <a:solidFill>
                  <a:srgbClr val="0F4C3A"/>
                </a:solidFill>
              </a:defRPr>
            </a:pPr>
            <a:r>
              <a:t>• Decision 2: Inverted Skill Index for 100k Candidates: </a:t>
            </a:r>
            <a:r>
              <a:rPr b="0">
                <a:solidFill>
                  <a:srgbClr val="1E293B"/>
                </a:solidFill>
              </a:rPr>
              <a:t>Built an inverted posting list mapping skill -&gt; [candidate_ids], cutting query latency to 145 ms and eliminating redundant full-table scans.</a:t>
            </a:r>
          </a:p>
          <a:p>
            <a:pPr>
              <a:spcAft>
                <a:spcPts val="1400"/>
              </a:spcAft>
              <a:defRPr b="1" sz="1600">
                <a:solidFill>
                  <a:srgbClr val="0F4C3A"/>
                </a:solidFill>
              </a:defRPr>
            </a:pPr>
            <a:r>
              <a:t>• Decision 3: Strict Negative LLM Prompting: </a:t>
            </a:r>
            <a:r>
              <a:rPr b="0">
                <a:solidFill>
                  <a:srgbClr val="1E293B"/>
                </a:solidFill>
              </a:rPr>
              <a:t>Constrained gpt-4o-mini to max 35 words and factual profile evidence only. Explicitly forbade inferring protected traits or hallucinating skills.</a:t>
            </a:r>
          </a:p>
          <a:p>
            <a:pPr>
              <a:spcAft>
                <a:spcPts val="1400"/>
              </a:spcAft>
              <a:defRPr b="1" sz="1600">
                <a:solidFill>
                  <a:srgbClr val="0F4C3A"/>
                </a:solidFill>
              </a:defRPr>
            </a:pPr>
            <a:r>
              <a:t>• Decision 4: Transparent Error States: </a:t>
            </a:r>
            <a:r>
              <a:rPr b="0">
                <a:solidFill>
                  <a:srgbClr val="1E293B"/>
                </a:solidFill>
              </a:rPr>
              <a:t>Provided visual status badges in the topbar and clear HTTP status codes (200, 400, 404, 502, 503) so recruiters always know the exact system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GCCX ROUND 1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3A"/>
                </a:solidFill>
              </a:defRPr>
            </a:pPr>
            <a:r>
              <a:t>AI Collaboration Workflow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1600">
                <a:solidFill>
                  <a:srgbClr val="1E293B"/>
                </a:solidFill>
              </a:defRPr>
            </a:pPr>
            <a:r>
              <a:t>• Where AI Accelerated Us: </a:t>
            </a:r>
            <a:r>
              <a:rPr b="0">
                <a:solidFill>
                  <a:srgbClr val="64748B"/>
                </a:solidFill>
              </a:rPr>
              <a:t>Accelerated test fixture scaffolding and authored the 100k synthetic candidate benchmark generator in minutes.</a:t>
            </a:r>
          </a:p>
          <a:p>
            <a:pPr>
              <a:spcAft>
                <a:spcPts val="1400"/>
              </a:spcAft>
              <a:defRPr b="1" sz="1600">
                <a:solidFill>
                  <a:srgbClr val="1E293B"/>
                </a:solidFill>
              </a:defRPr>
            </a:pPr>
            <a:r>
              <a:t>• Where We Overrode the AI: </a:t>
            </a:r>
            <a:r>
              <a:rPr b="0">
                <a:solidFill>
                  <a:srgbClr val="64748B"/>
                </a:solidFill>
              </a:rPr>
              <a:t>Rejected buggy AI code in Task 2b, refused fake simulated LLM responses, and fixed non-idempotent SQLite initialization.</a:t>
            </a:r>
          </a:p>
          <a:p>
            <a:pPr>
              <a:spcAft>
                <a:spcPts val="1400"/>
              </a:spcAft>
              <a:defRPr b="1" sz="1600">
                <a:solidFill>
                  <a:srgbClr val="1E293B"/>
                </a:solidFill>
              </a:defRPr>
            </a:pPr>
            <a:r>
              <a:t>• Standard of Truth: </a:t>
            </a:r>
            <a:r>
              <a:rPr b="0">
                <a:solidFill>
                  <a:srgbClr val="64748B"/>
                </a:solidFill>
              </a:rPr>
              <a:t>No claims without evidence. Every feature is verified by automated pytest suites (27 tests, 100% pass rate).</a:t>
            </a:r>
          </a:p>
          <a:p>
            <a:pPr>
              <a:spcAft>
                <a:spcPts val="1400"/>
              </a:spcAft>
              <a:defRPr b="1" sz="1600">
                <a:solidFill>
                  <a:srgbClr val="1E293B"/>
                </a:solidFill>
              </a:defRPr>
            </a:pPr>
            <a:r>
              <a:t>• Security &amp; Privacy: </a:t>
            </a:r>
            <a:r>
              <a:rPr b="0">
                <a:solidFill>
                  <a:srgbClr val="64748B"/>
                </a:solidFill>
              </a:rPr>
              <a:t>API keys strictly isolated in environment variables (.env); real secrets excluded from git tracking via .gitignore.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GCCX ROUND 1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3A"/>
                </a:solidFill>
              </a:defRPr>
            </a:pPr>
            <a:r>
              <a:t>Task 2 Highlights — Algorithmic Scaling &amp; 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400">
                <a:solidFill>
                  <a:srgbClr val="1E293B"/>
                </a:solidFill>
              </a:defRPr>
            </a:pPr>
            <a:r>
              <a:t>• Task 2a (100,000 Candidates): </a:t>
            </a:r>
            <a:r>
              <a:rPr b="0">
                <a:solidFill>
                  <a:srgbClr val="64748B"/>
                </a:solidFill>
              </a:rPr>
              <a:t>Built inverted index in 0.689s across 59 skills. Achieved 145.23 ms query latency vs 390.91 ms linear scan (2.7x speedup). Deterministic tie-breaking by score, name, and ID.</a:t>
            </a:r>
          </a:p>
          <a:p>
            <a:pPr>
              <a:spcAft>
                <a:spcPts val="800"/>
              </a:spcAft>
              <a:defRPr b="1" sz="1400">
                <a:solidFill>
                  <a:srgbClr val="1E293B"/>
                </a:solidFill>
              </a:defRPr>
            </a:pPr>
            <a:r>
              <a:t>• Task 2b Bug 1 (Loop Boundary): </a:t>
            </a:r>
            <a:r>
              <a:rPr b="0">
                <a:solidFill>
                  <a:srgbClr val="64748B"/>
                </a:solidFill>
              </a:rPr>
              <a:t>i &lt;= candidates.length crashes on the last iteration accessing undefined.skills. Fixed to for (const c of candidates).</a:t>
            </a:r>
          </a:p>
          <a:p>
            <a:pPr>
              <a:spcAft>
                <a:spcPts val="800"/>
              </a:spcAft>
              <a:defRPr b="1" sz="1400">
                <a:solidFill>
                  <a:srgbClr val="1E293B"/>
                </a:solidFill>
              </a:defRPr>
            </a:pPr>
            <a:r>
              <a:t>• Task 2b Bug 2 (Global Variable Leak): </a:t>
            </a:r>
            <a:r>
              <a:rPr b="0">
                <a:solidFill>
                  <a:srgbClr val="64748B"/>
                </a:solidFill>
              </a:rPr>
              <a:t>i = 0 omits declaration, polluting global scope in non-strict mode. Fixed with block-scoped iteration.</a:t>
            </a:r>
          </a:p>
          <a:p>
            <a:pPr>
              <a:spcAft>
                <a:spcPts val="800"/>
              </a:spcAft>
              <a:defRPr b="1" sz="1400">
                <a:solidFill>
                  <a:srgbClr val="1E293B"/>
                </a:solidFill>
              </a:defRPr>
            </a:pPr>
            <a:r>
              <a:t>• Task 2b Bug 3 (Score Representation): </a:t>
            </a:r>
            <a:r>
              <a:rPr b="0">
                <a:solidFill>
                  <a:srgbClr val="64748B"/>
                </a:solidFill>
              </a:rPr>
              <a:t>score: score stored an array of strings instead of a number. Fixed to integer count: score: matchCount.</a:t>
            </a:r>
          </a:p>
          <a:p>
            <a:pPr>
              <a:spcAft>
                <a:spcPts val="800"/>
              </a:spcAft>
              <a:defRPr b="1" sz="1400">
                <a:solidFill>
                  <a:srgbClr val="1E293B"/>
                </a:solidFill>
              </a:defRPr>
            </a:pPr>
            <a:r>
              <a:t>• Task 2b Bug 4 (Inverted Sort &amp; NaN): </a:t>
            </a:r>
            <a:r>
              <a:rPr b="0">
                <a:solidFill>
                  <a:srgbClr val="64748B"/>
                </a:solidFill>
              </a:rPr>
              <a:t>a.score - b.score subtracted arrays, returning NaN and sorting in ascending order. Fixed to b.score - a.score.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GCCX ROUND 1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3A"/>
                </a:solidFill>
              </a:defRPr>
            </a:pPr>
            <a:r>
              <a:t>Judgment Note — Scaling to 3,000 Candidates /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500">
                <a:solidFill>
                  <a:srgbClr val="0F4C3A"/>
                </a:solidFill>
              </a:defRPr>
            </a:pPr>
            <a:r>
              <a:t>• What to Build First (Weeks 1-2): </a:t>
            </a:r>
            <a:r>
              <a:rPr b="0">
                <a:solidFill>
                  <a:srgbClr val="1E293B"/>
                </a:solidFill>
              </a:rPr>
              <a:t>Authentication &amp; RBAC for candidate PII, database connection pooling/migrations, asynchronous Celery/Redis queue for LLM calls with rate-limiting, and error telemetry (Sentry).</a:t>
            </a:r>
          </a:p>
          <a:p>
            <a:pPr>
              <a:spcAft>
                <a:spcPts val="1200"/>
              </a:spcAft>
              <a:defRPr b="1" sz="1500">
                <a:solidFill>
                  <a:srgbClr val="0F4C3A"/>
                </a:solidFill>
              </a:defRPr>
            </a:pPr>
            <a:r>
              <a:t>• What to Explicitly Refuse Yet: </a:t>
            </a:r>
            <a:r>
              <a:rPr b="0">
                <a:solidFill>
                  <a:srgbClr val="1E293B"/>
                </a:solidFill>
              </a:rPr>
              <a:t>Autonomous hiring / auto-rejection decisions, unvalidated vector database infrastructure (Pinecone/Milvus), and complex multi-client billing engines.</a:t>
            </a:r>
          </a:p>
          <a:p>
            <a:pPr>
              <a:spcAft>
                <a:spcPts val="1200"/>
              </a:spcAft>
              <a:defRPr b="1" sz="1500">
                <a:solidFill>
                  <a:srgbClr val="0F4C3A"/>
                </a:solidFill>
              </a:defRPr>
            </a:pPr>
            <a:r>
              <a:t>• The Single Biggest Risk: </a:t>
            </a:r>
            <a:r>
              <a:rPr b="0">
                <a:solidFill>
                  <a:srgbClr val="1E293B"/>
                </a:solidFill>
              </a:rPr>
              <a:t>Recruiter Automation Bias — recruiters over-relying on fluent AI summaries without checking source notes and disqualifying edge cases.</a:t>
            </a:r>
          </a:p>
          <a:p>
            <a:pPr>
              <a:spcAft>
                <a:spcPts val="1200"/>
              </a:spcAft>
              <a:defRPr b="1" sz="1500">
                <a:solidFill>
                  <a:srgbClr val="0F4C3A"/>
                </a:solidFill>
              </a:defRPr>
            </a:pPr>
            <a:r>
              <a:t>• Mitigation Strategy: </a:t>
            </a:r>
            <a:r>
              <a:rPr b="0">
                <a:solidFill>
                  <a:srgbClr val="1E293B"/>
                </a:solidFill>
              </a:rPr>
              <a:t>Keep raw recruiter notes visible side-by-side with AI summaries, mandate human shortlist sign-off, and audit 50 summaries weekly.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GCCX ROUND 1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4C3A"/>
                </a:solidFill>
              </a:defRPr>
            </a:pPr>
            <a:r>
              <a:t>Next Two-Week Sprint Plan &amp; Live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b="1" sz="1500">
                <a:solidFill>
                  <a:srgbClr val="1E293B"/>
                </a:solidFill>
              </a:defRPr>
            </a:pPr>
            <a:r>
              <a:t>• Week 1 Priorities: </a:t>
            </a:r>
            <a:r>
              <a:rPr b="0">
                <a:solidFill>
                  <a:srgbClr val="64748B"/>
                </a:solidFill>
              </a:rPr>
              <a:t>Role-based access control, PostgreSQL migration, asynchronous background worker for bulk resume parsing, SQLite FTS5 full-text search.</a:t>
            </a:r>
          </a:p>
          <a:p>
            <a:pPr>
              <a:spcAft>
                <a:spcPts val="1200"/>
              </a:spcAft>
              <a:defRPr b="1" sz="1500">
                <a:solidFill>
                  <a:srgbClr val="1E293B"/>
                </a:solidFill>
              </a:defRPr>
            </a:pPr>
            <a:r>
              <a:t>• Week 2 Priorities: </a:t>
            </a:r>
            <a:r>
              <a:rPr b="0">
                <a:solidFill>
                  <a:srgbClr val="64748B"/>
                </a:solidFill>
              </a:rPr>
              <a:t>AI summary accuracy benchmark against 100 human evaluations, recruiter feedback telemetry, client pilot rollout with safety controls.</a:t>
            </a:r>
          </a:p>
          <a:p>
            <a:pPr>
              <a:spcAft>
                <a:spcPts val="1200"/>
              </a:spcAft>
              <a:defRPr b="1" sz="1500">
                <a:solidFill>
                  <a:srgbClr val="1E293B"/>
                </a:solidFill>
              </a:defRPr>
            </a:pPr>
            <a:r>
              <a:t>• Success Metrics: </a:t>
            </a:r>
            <a:r>
              <a:rPr b="0">
                <a:solidFill>
                  <a:srgbClr val="64748B"/>
                </a:solidFill>
              </a:rPr>
              <a:t>Time to shortlist reduced by 50%, zero recruiter data loss, &gt;95% human agreement with AI evidence extraction.</a:t>
            </a:r>
          </a:p>
          <a:p>
            <a:pPr>
              <a:spcAft>
                <a:spcPts val="1200"/>
              </a:spcAft>
              <a:defRPr b="1" sz="1500">
                <a:solidFill>
                  <a:srgbClr val="1E293B"/>
                </a:solidFill>
              </a:defRPr>
            </a:pPr>
            <a:r>
              <a:t>• Live Demo Ready: </a:t>
            </a:r>
            <a:r>
              <a:rPr b="0">
                <a:solidFill>
                  <a:srgbClr val="64748B"/>
                </a:solidFill>
              </a:rPr>
              <a:t>Let's open http://127.0.0.1:5000 and walk through the live application, database queries, and code implementation!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